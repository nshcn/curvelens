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9b9f9b978a4aa6" /><Relationship Type="http://schemas.openxmlformats.org/officeDocument/2006/relationships/extended-properties" Target="/docProps/app.xml" Id="R7807f158f8ed4f0d" /><Relationship Type="http://schemas.openxmlformats.org/officeDocument/2006/relationships/officeDocument" Target="/ppt/presentation.xml" Id="Rbefe84daadc04c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9464e62c0544b7"/>
  </p:sldMasterIdLst>
  <p:notesMasterIdLst>
    <p:notesMasterId xmlns:r="http://schemas.openxmlformats.org/officeDocument/2006/relationships" r:id="R8befd201d1c04a3e"/>
  </p:notesMasterIdLst>
  <p:sldIdLst>
    <p:sldId xmlns:r="http://schemas.openxmlformats.org/officeDocument/2006/relationships" id="256" r:id="Rc9731592b86e4c06"/>
    <p:sldId xmlns:r="http://schemas.openxmlformats.org/officeDocument/2006/relationships" id="257" r:id="Rf6eee9be9e354202"/>
    <p:sldId xmlns:r="http://schemas.openxmlformats.org/officeDocument/2006/relationships" id="258" r:id="Ra71fc390a9f246f8"/>
    <p:sldId xmlns:r="http://schemas.openxmlformats.org/officeDocument/2006/relationships" id="259" r:id="R35121c6f3f2e47fc"/>
    <p:sldId xmlns:r="http://schemas.openxmlformats.org/officeDocument/2006/relationships" id="260" r:id="Rab8c5da44b0a48ec"/>
    <p:sldId xmlns:r="http://schemas.openxmlformats.org/officeDocument/2006/relationships" id="261" r:id="R8420777ed831424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48928493234872" /><Relationship Type="http://schemas.openxmlformats.org/officeDocument/2006/relationships/slideMaster" Target="/ppt/slideMasters/slideMaster1.xml" Id="R299464e62c0544b7" /><Relationship Type="http://schemas.openxmlformats.org/officeDocument/2006/relationships/notesMaster" Target="/ppt/notesMasters/notesMaster1.xml" Id="R8befd201d1c04a3e" /><Relationship Type="http://schemas.openxmlformats.org/officeDocument/2006/relationships/presProps" Target="/ppt/presProps.xml" Id="R959eb21661cf4e74" /><Relationship Type="http://schemas.openxmlformats.org/officeDocument/2006/relationships/tableStyles" Target="/ppt/tableStyles.xml" Id="R40a57017d15249f5" /><Relationship Type="http://schemas.openxmlformats.org/officeDocument/2006/relationships/slide" Target="/ppt/slides/slide1.xml" Id="Rc9731592b86e4c06" /><Relationship Type="http://schemas.openxmlformats.org/officeDocument/2006/relationships/slide" Target="/ppt/slides/slide2.xml" Id="Rf6eee9be9e354202" /><Relationship Type="http://schemas.openxmlformats.org/officeDocument/2006/relationships/slide" Target="/ppt/slides/slide3.xml" Id="Ra71fc390a9f246f8" /><Relationship Type="http://schemas.openxmlformats.org/officeDocument/2006/relationships/slide" Target="/ppt/slides/slide4.xml" Id="R35121c6f3f2e47fc" /><Relationship Type="http://schemas.openxmlformats.org/officeDocument/2006/relationships/slide" Target="/ppt/slides/slide5.xml" Id="Rab8c5da44b0a48ec" /><Relationship Type="http://schemas.openxmlformats.org/officeDocument/2006/relationships/slide" Target="/ppt/slides/slide6.xml" Id="R8420777ed83142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90fc2c13ec48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caeb322a484969" /><Relationship Type="http://schemas.openxmlformats.org/officeDocument/2006/relationships/notesMaster" Target="/ppt/notesMasters/notesMaster1.xml" Id="R6fb5ea097f494d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8da528534e44c2" /><Relationship Type="http://schemas.openxmlformats.org/officeDocument/2006/relationships/notesMaster" Target="/ppt/notesMasters/notesMaster1.xml" Id="R8e327695881c4b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ed15b88d824d83" /><Relationship Type="http://schemas.openxmlformats.org/officeDocument/2006/relationships/notesMaster" Target="/ppt/notesMasters/notesMaster1.xml" Id="R1ac7bb16aade47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ea42d9767e4c0e" /><Relationship Type="http://schemas.openxmlformats.org/officeDocument/2006/relationships/notesMaster" Target="/ppt/notesMasters/notesMaster1.xml" Id="R34d0eb6e6f5343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5c6b11e12342d8" /><Relationship Type="http://schemas.openxmlformats.org/officeDocument/2006/relationships/notesMaster" Target="/ppt/notesMasters/notesMaster1.xml" Id="R7065eee008094d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a5aa35fa5c41dc" /><Relationship Type="http://schemas.openxmlformats.org/officeDocument/2006/relationships/notesMaster" Target="/ppt/notesMasters/notesMaster1.xml" Id="Rf8d1e507ca9742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CurveLens product pitch. Cover artwork generated for this deck; it does not depict real chain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https://docs.meteora.ag/developer-guide/guides/dbc/overview ; https://github.com/MeteoraAg/dynamic-bonding-curve-sdk . Input count refers to the parameters exposed by this CurveLens MVP.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source: CurveLens commit 6e496ae70faebf2b29807acb4cd5bd9c88bfad1f. SDK: https://github.com/MeteoraAg/dynamic-bonding-curve-sdk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Values reproduced by automated tests against @meteora-ag/dynamic-bonding-curve-sdk 1.5.12. Quote-reserve checkpoints: 0, 23.621, 47.242, 70.864 and 92.632 SOL. These are simulation outputs, not performance forecasts.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source: CurveLens commit 6e496ae70faebf2b29807acb4cd5bd9c88bfad1f. The current MVP does not connect a wallet, sign data or send a transaction.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Business model and four-week metrics are hypotheses and forward-looking targets. They are not current revenue, customers or traction.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727703ca8f49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a9caf672c740f8" /><Relationship Type="http://schemas.openxmlformats.org/officeDocument/2006/relationships/slideLayout" Target="/ppt/slideLayouts/slideLayout1.xml" Id="R8ad728d114904b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d728d114904b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aadc4a33ee45a9" /><Relationship Type="http://schemas.openxmlformats.org/officeDocument/2006/relationships/image" Target="/ppt/media/image.png" Id="R2963a0e138c5442e" /><Relationship Type="http://schemas.openxmlformats.org/officeDocument/2006/relationships/notesSlide" Target="/ppt/notesSlides/notesSlide1.xml" Id="R466465aa15b64a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0dd74acaec4eeb" /><Relationship Type="http://schemas.openxmlformats.org/officeDocument/2006/relationships/notesSlide" Target="/ppt/notesSlides/notesSlide2.xml" Id="R19ed3c58e2194e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b8a3e478814dd4" /><Relationship Type="http://schemas.openxmlformats.org/officeDocument/2006/relationships/notesSlide" Target="/ppt/notesSlides/notesSlide3.xml" Id="Rd8d27bc523d941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4cde09b3da41d3" /><Relationship Type="http://schemas.openxmlformats.org/officeDocument/2006/relationships/chart" Target="/ppt/slides/charts/chart1.xml" Id="R5ce683e930a74ee3" /><Relationship Type="http://schemas.openxmlformats.org/officeDocument/2006/relationships/notesSlide" Target="/ppt/notesSlides/notesSlide4.xml" Id="R9bf857e570c04eb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9ae4b072524298" /><Relationship Type="http://schemas.openxmlformats.org/officeDocument/2006/relationships/notesSlide" Target="/ppt/notesSlides/notesSlide5.xml" Id="R86e2385f47fa45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cf94c9ce5244a3" /><Relationship Type="http://schemas.openxmlformats.org/officeDocument/2006/relationships/notesSlide" Target="/ppt/notesSlides/notesSlide6.xml" Id="Ra3e0b74054d140c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Market cap (SOL)</c:v>
          </c:tx>
          <c:marker>
            <c:symbol val="none"/>
          </c:marker>
          <c:cat>
            <c:strRef>
              <c:f>'Chart Data'!$A$2:$A$6</c:f>
              <c:strCache>
                <c:ptCount val="5"/>
                <c:pt idx="0">
                  <c:v>0%</c:v>
                </c:pt>
                <c:pt idx="1">
                  <c:v>25%</c:v>
                </c:pt>
                <c:pt idx="2">
                  <c:v>51%</c:v>
                </c:pt>
                <c:pt idx="3">
                  <c:v>76%</c:v>
                </c:pt>
                <c:pt idx="4">
                  <c:v>100%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20</c:v>
                </c:pt>
                <c:pt idx="1">
                  <c:v>91.74</c:v>
                </c:pt>
                <c:pt idx="2">
                  <c:v>215.61</c:v>
                </c:pt>
                <c:pt idx="3">
                  <c:v>391.63</c:v>
                </c:pt>
                <c:pt idx="4">
                  <c:v>600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E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63a0e138c5442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1B394A-0180-4A1D-B8EB-007ECB44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2ECE57-0D1B-41C6-8587-2768B335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628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4F8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4F8F2"/>
                </a:solidFill>
                <a:latin typeface="Helvetica Neue"/>
                <a:ea typeface="Helvetica Neue"/>
                <a:cs typeface="Helvetica Neue"/>
              </a:rPr>
              <a:t>CurveLens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353138-A6EA-4A89-A771-0446C748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581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8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4F8F2"/>
                </a:solidFill>
                <a:latin typeface="Helvetica Neue"/>
                <a:ea typeface="Helvetica Neue"/>
                <a:cs typeface="Helvetica Neue"/>
              </a:rPr>
              <a:t>Meteora DBC launch economics before the first transaction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620FCD-AE98-4E96-86F8-F4FA818A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FF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C9FF63"/>
                </a:solidFill>
                <a:latin typeface="Helvetica Neue"/>
                <a:ea typeface="Helvetica Neue"/>
                <a:cs typeface="Helvetica Neue"/>
              </a:rPr>
              <a:t>Official SDK simulation  /  Read-only  /  Exportable configuration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E9826-0E45-4191-8C98-0B53E27B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15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B2A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9B2AB"/>
                </a:solidFill>
                <a:latin typeface="Helvetica Neue"/>
                <a:ea typeface="Helvetica Neue"/>
                <a:cs typeface="Helvetica Neue"/>
              </a:rPr>
              <a:t>Crypto World’s Fair 2026</a:t>
            </a:r>
          </a:p>
        </p:txBody>
      </p:sp>
    </p:spTree>
    <p:extLst>
      <p:ext uri="{BB962C8B-B14F-4D97-AF65-F5344CB8AC3E}">
        <p14:creationId xmlns:p14="http://schemas.microsoft.com/office/powerpoint/2010/main" val="1202648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0E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B53F1E-C88B-4F91-9A6F-A49AFDFE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FF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C9FF63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FEA6BB-460B-4C93-A08A-BC5DC330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8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4F8F2"/>
                </a:solidFill>
                <a:latin typeface="Helvetica Neue"/>
                <a:ea typeface="Helvetica Neue"/>
                <a:cs typeface="Helvetica Neue"/>
              </a:rPr>
              <a:t>DBC parameters move together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E314DC-1921-4762-ADE1-23F1F641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B2A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9B2AB"/>
                </a:solidFill>
                <a:latin typeface="Helvetica Neue"/>
                <a:ea typeface="Helvetica Neue"/>
                <a:cs typeface="Helvetica Neue"/>
              </a:rPr>
              <a:t>A launch team needs one view of the economic path before it writes or signs a transaction.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4885DC-93E7-41B5-86AA-83DFB4B4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22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E323D-5819-4203-BC8F-705F3914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142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C9FF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C9FF63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7AD450-15FB-4D60-9569-A9BCD440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8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4F8F2"/>
                </a:solidFill>
                <a:latin typeface="Helvetica Neue"/>
                <a:ea typeface="Helvetica Neue"/>
                <a:cs typeface="Helvetica Neue"/>
              </a:rPr>
              <a:t>launch inputs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D72A97-6036-4355-AB72-BB4AB634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90950"/>
            <a:ext cx="304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2A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9B2AB"/>
                </a:solidFill>
                <a:latin typeface="Helvetica Neue"/>
                <a:ea typeface="Helvetica Neue"/>
                <a:cs typeface="Helvetica Neue"/>
              </a:rPr>
              <a:t>Market caps, trading fees, liquidity allocation and migration pool settings.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F11AC4-9D2A-4D08-BB78-59F7F25F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00300"/>
            <a:ext cx="142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C9FF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C9FF63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B12CBC-D420-4693-87BA-36040EC8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956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8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4F8F2"/>
                </a:solidFill>
                <a:latin typeface="Helvetica Neue"/>
                <a:ea typeface="Helvetica Neue"/>
                <a:cs typeface="Helvetica Neue"/>
              </a:rPr>
              <a:t>coupled outcome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3A2061-DA30-4E46-A3EF-03D4FF74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90950"/>
            <a:ext cx="304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2A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9B2AB"/>
                </a:solidFill>
                <a:latin typeface="Helvetica Neue"/>
                <a:ea typeface="Helvetica Neue"/>
                <a:cs typeface="Helvetica Neue"/>
              </a:rPr>
              <a:t>The curve determines price growth, quote captured and token distribution.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C38EEE-1380-4D20-9BB0-E55AA29B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00300"/>
            <a:ext cx="142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6B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6B5B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F79D1D-36C3-49B3-9219-DACD75C0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956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8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4F8F2"/>
                </a:solidFill>
                <a:latin typeface="Helvetica Neue"/>
                <a:ea typeface="Helvetica Neue"/>
                <a:cs typeface="Helvetica Neue"/>
              </a:rPr>
              <a:t>safe guesses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C191AC-B4B8-43F9-925E-56276A3A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90950"/>
            <a:ext cx="304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2A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9B2AB"/>
                </a:solidFill>
                <a:latin typeface="Helvetica Neue"/>
                <a:ea typeface="Helvetica Neue"/>
                <a:cs typeface="Helvetica Neue"/>
              </a:rPr>
              <a:t>A wrong parameter can change graduation economics even when each input looks reasonable.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B68A0B-AC12-4A28-9DD7-FD7A9FE5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7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F7B73"/>
                </a:solidFill>
                <a:latin typeface="Helvetica Neue"/>
                <a:ea typeface="Helvetica Neue"/>
                <a:cs typeface="Helvetica Neue"/>
              </a:rPr>
              <a:t>Current workflow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610CF2-BF52-4675-8BDC-B21BB9C0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673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8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4F8F2"/>
                </a:solidFill>
                <a:latin typeface="Helvetica Neue"/>
                <a:ea typeface="Helvetica Neue"/>
                <a:cs typeface="Helvetica Neue"/>
              </a:rPr>
              <a:t>configure  →  inspect  →  compare  →  export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5B14C2-AB78-449A-8DF0-4063B1EB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7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F7B73"/>
                </a:solidFill>
                <a:latin typeface="Helvetica Neue"/>
                <a:ea typeface="Helvetica Neue"/>
                <a:cs typeface="Helvetica Neue"/>
              </a:rPr>
              <a:t>CURVELENS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331995-A9BE-43E1-A19A-3D784671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F7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F7B73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579408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0E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58C514-8831-4426-A0A5-C55FB84F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FF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C9FF63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2C39BB-55BA-4BF2-8567-A70B8A16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8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4F8F2"/>
                </a:solidFill>
                <a:latin typeface="Helvetica Neue"/>
                <a:ea typeface="Helvetica Neue"/>
                <a:cs typeface="Helvetica Neue"/>
              </a:rPr>
              <a:t>A browser workbench for DBC launch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AC25B4-2D43-40AE-A5EF-033C6752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B2A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9B2AB"/>
                </a:solidFill>
                <a:latin typeface="Helvetica Neue"/>
                <a:ea typeface="Helvetica Neue"/>
                <a:cs typeface="Helvetica Neue"/>
              </a:rPr>
              <a:t>CurveLens converts human launch targets into an SDK-built curve and a readable graduation brief.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B5FED4-AB18-40E9-8DBC-CDF3E57C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22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462FEB-2AE3-430E-B8FB-5A9508BB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F8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4F8F2"/>
                </a:solidFill>
                <a:latin typeface="Helvetica Neue"/>
                <a:ea typeface="Helvetica Neue"/>
                <a:cs typeface="Helvetica Neue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F1B41D-2D90-4356-8B24-D362A755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8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4F8F2"/>
                </a:solidFill>
                <a:latin typeface="Helvetica Neue"/>
                <a:ea typeface="Helvetica Neue"/>
                <a:cs typeface="Helvetica Neue"/>
              </a:rPr>
              <a:t>Configure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EF53D9-BD9C-4637-A559-DBB13F29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62350"/>
            <a:ext cx="22669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2A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9B2AB"/>
                </a:solidFill>
                <a:latin typeface="Helvetica Neue"/>
                <a:ea typeface="Helvetica Neue"/>
                <a:cs typeface="Helvetica Neue"/>
              </a:rPr>
              <a:t>Choose quote asset, market-cap targets, fee split and liquidity locks.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8E17CB-78EC-4821-B8B8-E65303E3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62200"/>
            <a:ext cx="190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22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3B8D66-B964-4439-B426-8E967FF3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812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FF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9FF63"/>
                </a:solidFill>
                <a:latin typeface="Helvetica Neue"/>
                <a:ea typeface="Helvetica Neue"/>
                <a:cs typeface="Helvetica Neue"/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C06FD3-A3AA-416A-83DF-58E6FF81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76550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FF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C9FF63"/>
                </a:solidFill>
                <a:latin typeface="Helvetica Neue"/>
                <a:ea typeface="Helvetica Neue"/>
                <a:cs typeface="Helvetica Neue"/>
              </a:rPr>
              <a:t>Simulate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35CAED-571A-4A8F-86C1-5F9E8A69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562350"/>
            <a:ext cx="22669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2A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9B2AB"/>
                </a:solidFill>
                <a:latin typeface="Helvetica Neue"/>
                <a:ea typeface="Helvetica Neue"/>
                <a:cs typeface="Helvetica Neue"/>
              </a:rPr>
              <a:t>Build the curve with Meteora’s SDK and sample the capital path without a wallet.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84FC04-FC01-47B4-AE2D-722149F4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62200"/>
            <a:ext cx="190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22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13D1B3-0152-46B1-B160-8810B158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812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F8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4F8F2"/>
                </a:solidFill>
                <a:latin typeface="Helvetica Neue"/>
                <a:ea typeface="Helvetica Neue"/>
                <a:cs typeface="Helvetica Neue"/>
              </a:rPr>
              <a:t>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33374-D99B-4859-87DE-01CFB475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76550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8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4F8F2"/>
                </a:solidFill>
                <a:latin typeface="Helvetica Neue"/>
                <a:ea typeface="Helvetica Neue"/>
                <a:cs typeface="Helvetica Neue"/>
              </a:rPr>
              <a:t>Inspect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0C612F-E02E-417B-A09B-CDA32A4F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62350"/>
            <a:ext cx="22669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2A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9B2AB"/>
                </a:solidFill>
                <a:latin typeface="Helvetica Neue"/>
                <a:ea typeface="Helvetica Neue"/>
                <a:cs typeface="Helvetica Neue"/>
              </a:rPr>
              <a:t>Read graduation threshold, price expansion, token distribution and integrity checks.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47B419-29B6-4F9D-8A09-55AE99D8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62200"/>
            <a:ext cx="190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22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F57945-A7CA-4E7E-AA80-2089ED58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812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6B5B"/>
                </a:solidFill>
                <a:latin typeface="Helvetica Neue"/>
                <a:ea typeface="Helvetica Neue"/>
                <a:cs typeface="Helvetica Neue"/>
              </a:rPr>
              <a:t>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25DE73-1FF1-4008-B887-A6C62FC2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76550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6B5B"/>
                </a:solidFill>
                <a:latin typeface="Helvetica Neue"/>
                <a:ea typeface="Helvetica Neue"/>
                <a:cs typeface="Helvetica Neue"/>
              </a:rPr>
              <a:t>Export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C6560A-92AA-4FB5-A137-E9CD59D8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562350"/>
            <a:ext cx="22669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2A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9B2AB"/>
                </a:solidFill>
                <a:latin typeface="Helvetica Neue"/>
                <a:ea typeface="Helvetica Neue"/>
                <a:cs typeface="Helvetica Neue"/>
              </a:rPr>
              <a:t>Copy the complete human inputs and resolved BN configuration as JSON.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D57C56-47B7-466C-A418-B4072E59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054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9FF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C9FF63"/>
                </a:solidFill>
                <a:latin typeface="Helvetica Neue"/>
                <a:ea typeface="Helvetica Neue"/>
                <a:cs typeface="Helvetica Neue"/>
              </a:rPr>
              <a:t>No wallet  ·  No signature  ·  No transaction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DA4707-2B68-4948-A453-FB46E986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7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F7B73"/>
                </a:solidFill>
                <a:latin typeface="Helvetica Neue"/>
                <a:ea typeface="Helvetica Neue"/>
                <a:cs typeface="Helvetica Neue"/>
              </a:rPr>
              <a:t>CURVELENS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B9A254-BB31-44BE-8165-8E5E9836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F7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F7B7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908866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0E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F93C0C-4E7F-4FE0-89DF-D510E928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FF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C9FF6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13A8C7-361E-4AD3-94A2-6B616E6F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8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4F8F2"/>
                </a:solidFill>
                <a:latin typeface="Helvetica Neue"/>
                <a:ea typeface="Helvetica Neue"/>
                <a:cs typeface="Helvetica Neue"/>
              </a:rPr>
              <a:t>One scenario, fully resolved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0E5835-6536-48AD-8B86-A1F8403F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B2A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9B2AB"/>
                </a:solidFill>
                <a:latin typeface="Helvetica Neue"/>
                <a:ea typeface="Helvetica Neue"/>
                <a:cs typeface="Helvetica Neue"/>
              </a:rPr>
              <a:t>Community preset: 20 SOL initial market cap and 600 SOL graduation market cap.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2F632C-0409-4DF0-A094-5F723506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22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CCAE3F-8EEF-47A7-BA21-DDC89317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C9FF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C9FF63"/>
                </a:solidFill>
                <a:latin typeface="Helvetica Neue"/>
                <a:ea typeface="Helvetica Neue"/>
                <a:cs typeface="Helvetica Neue"/>
              </a:rPr>
              <a:t>92.632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35EB9F-5ACD-4865-9806-9FEC2172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8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4F8F2"/>
                </a:solidFill>
                <a:latin typeface="Helvetica Neue"/>
                <a:ea typeface="Helvetica Neue"/>
                <a:cs typeface="Helvetica Neue"/>
              </a:rPr>
              <a:t>SOL migration threshold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F347E2-7F25-44D6-8B6F-962280BF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71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4F8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4F8F2"/>
                </a:solidFill>
                <a:latin typeface="Helvetica Neue"/>
                <a:ea typeface="Helvetica Neue"/>
                <a:cs typeface="Helvetica Neue"/>
              </a:rPr>
              <a:t>30×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405B9C-8C01-4C2E-A874-7BF7968B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2A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2AB"/>
                </a:solidFill>
                <a:latin typeface="Helvetica Neue"/>
                <a:ea typeface="Helvetica Neue"/>
                <a:cs typeface="Helvetica Neue"/>
              </a:rPr>
              <a:t>launch-to-graduation price expansion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A8C113-FCEA-40D3-87FB-61989216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6B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6B5B"/>
                </a:solidFill>
                <a:latin typeface="Helvetica Neue"/>
                <a:ea typeface="Helvetica Neue"/>
                <a:cs typeface="Helvetica Neue"/>
              </a:rPr>
              <a:t>845.61M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9E80F3-05BA-45DA-8515-88E1CAD7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2A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9B2AB"/>
                </a:solidFill>
                <a:latin typeface="Helvetica Neue"/>
                <a:ea typeface="Helvetica Neue"/>
                <a:cs typeface="Helvetica Neue"/>
              </a:rPr>
              <a:t>tokens distributed on curve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4019550" y="2266950"/>
          <a:ext xmlns:a="http://schemas.openxmlformats.org/drawingml/2006/main" cx="7258050" cy="3657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ce683e930a74ee3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02D8E8-C441-46F6-99D7-B3D7342B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9626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7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F7B73"/>
                </a:solidFill>
                <a:latin typeface="Helvetica Neue"/>
                <a:ea typeface="Helvetica Neue"/>
                <a:cs typeface="Helvetica Neue"/>
              </a:rPr>
              <a:t>Curve progress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BF9508-4461-4CC6-AD95-6A5829B1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7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F7B73"/>
                </a:solidFill>
                <a:latin typeface="Helvetica Neue"/>
                <a:ea typeface="Helvetica Neue"/>
                <a:cs typeface="Helvetica Neue"/>
              </a:rPr>
              <a:t>CURVELENS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6BBBCE-410A-4E84-BE69-C8A33473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F7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F7B73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657864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0E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48E08D-452B-40A9-AF65-279AA967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FF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C9FF63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868B31-9D5F-46F7-87FB-8142F18D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8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4F8F2"/>
                </a:solidFill>
                <a:latin typeface="Helvetica Neue"/>
                <a:ea typeface="Helvetica Neue"/>
                <a:cs typeface="Helvetica Neue"/>
              </a:rPr>
              <a:t>Thin application, auditable calculation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5A74E5-6B09-4BD3-A47C-0CFD19B8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B2A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9B2AB"/>
                </a:solidFill>
                <a:latin typeface="Helvetica Neue"/>
                <a:ea typeface="Helvetica Neue"/>
                <a:cs typeface="Helvetica Neue"/>
              </a:rPr>
              <a:t>The MVP keeps authority with the builder and leaves transaction creation out of scope.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B69416-F6F3-4337-A7A1-B6E2F556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22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B010CB-7D6F-40C1-94A5-8CD2EC208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FF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9FF63"/>
                </a:solidFill>
                <a:latin typeface="Helvetica Neue"/>
                <a:ea typeface="Helvetica Neue"/>
                <a:cs typeface="Helvetica Neue"/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0A26DB-EFEA-4722-87EE-14E00F7F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1717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4F8F2"/>
                </a:solidFill>
                <a:latin typeface="Helvetica Neue"/>
                <a:ea typeface="Helvetica Neue"/>
                <a:cs typeface="Helvetica Neue"/>
              </a:rPr>
              <a:t>Typed launch targets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AF782A-96EB-45E7-A07C-123D17E3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09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2A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2AB"/>
                </a:solidFill>
                <a:latin typeface="Helvetica Neue"/>
                <a:ea typeface="Helvetica Neue"/>
                <a:cs typeface="Helvetica Neue"/>
              </a:rPr>
              <a:t>React state with bounded validation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A4CF4F-139A-49B1-B5EB-B981F0CF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22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7693D1-E704-439B-A508-640B37A5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FF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9FF63"/>
                </a:solidFill>
                <a:latin typeface="Helvetica Neue"/>
                <a:ea typeface="Helvetica Neue"/>
                <a:cs typeface="Helvetica Neue"/>
              </a:rPr>
              <a:t>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08E852-FF61-46D1-979C-21C25F58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9146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4F8F2"/>
                </a:solidFill>
                <a:latin typeface="Helvetica Neue"/>
                <a:ea typeface="Helvetica Neue"/>
                <a:cs typeface="Helvetica Neue"/>
              </a:rPr>
              <a:t>Official DBC curve builder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BBE8FF-154A-432E-BF05-45C68B0F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527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2A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2AB"/>
                </a:solidFill>
                <a:latin typeface="Helvetica Neue"/>
                <a:ea typeface="Helvetica Neue"/>
                <a:cs typeface="Helvetica Neue"/>
              </a:rPr>
              <a:t>buildCurveWithMarketCap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95118B-8651-466E-846C-0D410A00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22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A190F3-DD8F-4FD1-8CC3-C5C3C143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FF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9FF63"/>
                </a:solidFill>
                <a:latin typeface="Helvetica Neue"/>
                <a:ea typeface="Helvetica Neue"/>
                <a:cs typeface="Helvetica Neue"/>
              </a:rPr>
              <a:t>QUOTE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CB7F6F-89BD-4EF1-89E9-DB73A8D8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6576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4F8F2"/>
                </a:solidFill>
                <a:latin typeface="Helvetica Neue"/>
                <a:ea typeface="Helvetica Neue"/>
                <a:cs typeface="Helvetica Neue"/>
              </a:rPr>
              <a:t>SDK partial-fill simulation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3CFF67-0995-4AFA-8E24-5AD0F0BF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957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2A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2AB"/>
                </a:solidFill>
                <a:latin typeface="Helvetica Neue"/>
                <a:ea typeface="Helvetica Neue"/>
                <a:cs typeface="Helvetica Neue"/>
              </a:rPr>
              <a:t>swapQuotePartialFill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40C858-3F5D-4416-810A-2B1676C6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22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0ACF77-27ED-4BD9-8675-58DA6195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FF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9FF63"/>
                </a:solidFill>
                <a:latin typeface="Helvetica Neue"/>
                <a:ea typeface="Helvetica Neue"/>
                <a:cs typeface="Helvetica Neue"/>
              </a:rPr>
              <a:t>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5B2935-7458-45FD-9CEF-4E4B4236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4005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4F8F2"/>
                </a:solidFill>
                <a:latin typeface="Helvetica Neue"/>
                <a:ea typeface="Helvetica Neue"/>
                <a:cs typeface="Helvetica Neue"/>
              </a:rPr>
              <a:t>Graduation brief and JSON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4499C1-D4A0-42A5-8F36-D7D0D19B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386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2A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2AB"/>
                </a:solidFill>
                <a:latin typeface="Helvetica Neue"/>
                <a:ea typeface="Helvetica Neue"/>
                <a:cs typeface="Helvetica Neue"/>
              </a:rPr>
              <a:t>Human inputs plus resolved BN values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227DC2-06DD-4F67-AC23-982ECFD5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22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D11732-02BC-4141-ABE4-D4261269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6B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6B5B"/>
                </a:solidFill>
                <a:latin typeface="Helvetica Neue"/>
                <a:ea typeface="Helvetica Neue"/>
                <a:cs typeface="Helvetica Neue"/>
              </a:rPr>
              <a:t>AGENT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8BD93C-B98B-4E01-88E9-1B063DFF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1435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4F8F2"/>
                </a:solidFill>
                <a:latin typeface="Helvetica Neue"/>
                <a:ea typeface="Helvetica Neue"/>
                <a:cs typeface="Helvetica Neue"/>
              </a:rPr>
              <a:t>Two WebMCP tools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BD9AAA-113E-4C87-89CD-4F42A090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181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2A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2AB"/>
                </a:solidFill>
                <a:latin typeface="Helvetica Neue"/>
                <a:ea typeface="Helvetica Neue"/>
                <a:cs typeface="Helvetica Neue"/>
              </a:rPr>
              <a:t>Read simulation or update local configuration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D9CEE-B412-4818-9CA2-7808D053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7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F7B73"/>
                </a:solidFill>
                <a:latin typeface="Helvetica Neue"/>
                <a:ea typeface="Helvetica Neue"/>
                <a:cs typeface="Helvetica Neue"/>
              </a:rPr>
              <a:t>CURVELENS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02CA38-80D0-4052-B401-B073BBD4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F7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F7B73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107066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0E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2E7763-FBDB-4010-951C-D36D743B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FF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C9FF63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CB5E04-657C-45F1-AECB-B30A1225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8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4F8F2"/>
                </a:solidFill>
                <a:latin typeface="Helvetica Neue"/>
                <a:ea typeface="Helvetica Neue"/>
                <a:cs typeface="Helvetica Neue"/>
              </a:rPr>
              <a:t>Planned path from tool to 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3F9401-AFFF-42AF-963A-7B7D3D80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B2A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9B2AB"/>
                </a:solidFill>
                <a:latin typeface="Helvetica Neue"/>
                <a:ea typeface="Helvetica Neue"/>
                <a:cs typeface="Helvetica Neue"/>
              </a:rPr>
              <a:t>The next proof point is whether launch teams use a shared simulation brief before shipping.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1430B2-C9C9-4E67-805C-E1A8C57C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22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DD5479-72DA-4364-BA93-5500B79B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FF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9FF63"/>
                </a:solidFill>
                <a:latin typeface="Helvetica Neue"/>
                <a:ea typeface="Helvetica Neue"/>
                <a:cs typeface="Helvetica Neue"/>
              </a:rPr>
              <a:t>FIRST USER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E0AF1A-29CD-4903-937F-854B0537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8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4F8F2"/>
                </a:solidFill>
                <a:latin typeface="Helvetica Neue"/>
                <a:ea typeface="Helvetica Neue"/>
                <a:cs typeface="Helvetica Neue"/>
              </a:rPr>
              <a:t>Token launch teams using Meteora DBC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3F8222-7A58-46FA-85EA-10260D17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409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2A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9B2AB"/>
                </a:solidFill>
                <a:latin typeface="Helvetica Neue"/>
                <a:ea typeface="Helvetica Neue"/>
                <a:cs typeface="Helvetica Neue"/>
              </a:rPr>
              <a:t>They need a fast way to compare economic choices with collaborators before implementation.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6D467A-AE72-48AD-B71B-4340C2A2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2669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6B5B"/>
                </a:solidFill>
                <a:latin typeface="Helvetica Neue"/>
                <a:ea typeface="Helvetica Neue"/>
                <a:cs typeface="Helvetica Neue"/>
              </a:rPr>
              <a:t>PLANNED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8FD1AB-2B13-4B76-9023-51368D41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6670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8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4F8F2"/>
                </a:solidFill>
                <a:latin typeface="Helvetica Neue"/>
                <a:ea typeface="Helvetica Neue"/>
                <a:cs typeface="Helvetica Neue"/>
              </a:rPr>
              <a:t>Free simulator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EF1335-1817-444D-822F-B976D4C4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200400"/>
            <a:ext cx="4857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8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4F8F2"/>
                </a:solidFill>
                <a:latin typeface="Helvetica Neue"/>
                <a:ea typeface="Helvetica Neue"/>
                <a:cs typeface="Helvetica Neue"/>
              </a:rPr>
              <a:t>Paid saved scenarios, launch memos and team review workflows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CF5801-573D-48DA-ACC5-CFC3AD27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03860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8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4F8F2"/>
                </a:solidFill>
                <a:latin typeface="Helvetica Neue"/>
                <a:ea typeface="Helvetica Neue"/>
                <a:cs typeface="Helvetica Neue"/>
              </a:rPr>
              <a:t>Partner API for launchpads and advisors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0C3FF7-CFFB-4935-B58D-EED7B3E6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10401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22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48C662-C40F-4B59-965F-F387736D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7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F7B73"/>
                </a:solidFill>
                <a:latin typeface="Helvetica Neue"/>
                <a:ea typeface="Helvetica Neue"/>
                <a:cs typeface="Helvetica Neue"/>
              </a:rPr>
              <a:t>4-WEEK TARGET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E4B0A3-D43C-4152-8E3B-44154740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05425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9FF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C9FF63"/>
                </a:solidFill>
                <a:latin typeface="Helvetica Neue"/>
                <a:ea typeface="Helvetica Neue"/>
                <a:cs typeface="Helvetica Neue"/>
              </a:rPr>
              <a:t>10 builder interviews  /  3 live launch reviews  /  1 design partner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7C0E86-E432-4E1D-AAC5-5C164F82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912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F7B73"/>
                </a:solidFill>
                <a:latin typeface="Helvetica Neue"/>
                <a:ea typeface="Helvetica Neue"/>
                <a:cs typeface="Helvetica Neue"/>
              </a:rPr>
              <a:t>Targets, not achieved results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1779C5-AC5A-41C0-84A1-6E5F3309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7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F7B73"/>
                </a:solidFill>
                <a:latin typeface="Helvetica Neue"/>
                <a:ea typeface="Helvetica Neue"/>
                <a:cs typeface="Helvetica Neue"/>
              </a:rPr>
              <a:t>CURVELENS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C80645-6BA4-4AEE-A195-A715B39B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F7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F7B73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66502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2026-09-18T07:13:30.2030000Z</dcterms:created>
  <dcterms:modified xsi:type="dcterms:W3CDTF">2026-09-18T07:13:30.2030000Z</dcterms:modified>
</coreProperties>
</file>